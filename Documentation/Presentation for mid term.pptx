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7" r:id="rId13"/>
    <p:sldId id="266" r:id="rId14"/>
  </p:sldIdLst>
  <p:sldSz cx="12192000" cy="6858000"/>
  <p:notesSz cx="10234613" cy="70993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475"/>
    <a:srgbClr val="BBA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876" autoAdjust="0"/>
  </p:normalViewPr>
  <p:slideViewPr>
    <p:cSldViewPr snapToGrid="0" snapToObjects="1">
      <p:cViewPr varScale="1">
        <p:scale>
          <a:sx n="81" d="100"/>
          <a:sy n="81" d="100"/>
        </p:scale>
        <p:origin x="75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487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584"/>
    </p:cViewPr>
  </p:sorterViewPr>
  <p:notesViewPr>
    <p:cSldViewPr snapToGrid="0" snapToObjects="1">
      <p:cViewPr varScale="1">
        <p:scale>
          <a:sx n="112" d="100"/>
          <a:sy n="112" d="100"/>
        </p:scale>
        <p:origin x="21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5444" cy="355670"/>
          </a:xfrm>
          <a:prstGeom prst="rect">
            <a:avLst/>
          </a:prstGeom>
        </p:spPr>
        <p:txBody>
          <a:bodyPr vert="horz" lIns="92931" tIns="46466" rIns="92931" bIns="4646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6952" y="0"/>
            <a:ext cx="4435444" cy="355670"/>
          </a:xfrm>
          <a:prstGeom prst="rect">
            <a:avLst/>
          </a:prstGeom>
        </p:spPr>
        <p:txBody>
          <a:bodyPr vert="horz" lIns="92931" tIns="46466" rIns="92931" bIns="46466" rtlCol="0"/>
          <a:lstStyle>
            <a:lvl1pPr algn="r">
              <a:defRPr sz="1200"/>
            </a:lvl1pPr>
          </a:lstStyle>
          <a:p>
            <a:fld id="{F88CB950-2B61-400D-8AEF-EAA4B085AEC3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743636"/>
            <a:ext cx="4435444" cy="355669"/>
          </a:xfrm>
          <a:prstGeom prst="rect">
            <a:avLst/>
          </a:prstGeom>
        </p:spPr>
        <p:txBody>
          <a:bodyPr vert="horz" lIns="92931" tIns="46466" rIns="92931" bIns="4646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6952" y="6743636"/>
            <a:ext cx="4435444" cy="355669"/>
          </a:xfrm>
          <a:prstGeom prst="rect">
            <a:avLst/>
          </a:prstGeom>
        </p:spPr>
        <p:txBody>
          <a:bodyPr vert="horz" lIns="92931" tIns="46466" rIns="92931" bIns="46466" rtlCol="0" anchor="b"/>
          <a:lstStyle>
            <a:lvl1pPr algn="r">
              <a:defRPr sz="1200"/>
            </a:lvl1pPr>
          </a:lstStyle>
          <a:p>
            <a:fld id="{EE939C36-CA42-47F8-B2C4-B9BA1D94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238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434999" cy="356197"/>
          </a:xfrm>
          <a:prstGeom prst="rect">
            <a:avLst/>
          </a:prstGeom>
        </p:spPr>
        <p:txBody>
          <a:bodyPr vert="horz" lIns="98237" tIns="49119" rIns="98237" bIns="49119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2"/>
            <a:ext cx="4434999" cy="356197"/>
          </a:xfrm>
          <a:prstGeom prst="rect">
            <a:avLst/>
          </a:prstGeom>
        </p:spPr>
        <p:txBody>
          <a:bodyPr vert="horz" lIns="98237" tIns="49119" rIns="98237" bIns="49119" rtlCol="0"/>
          <a:lstStyle>
            <a:lvl1pPr algn="r">
              <a:defRPr sz="1300"/>
            </a:lvl1pPr>
          </a:lstStyle>
          <a:p>
            <a:fld id="{1F131371-5B6D-49EB-95CF-CEBE74D1F8E6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237" tIns="49119" rIns="98237" bIns="491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6540"/>
            <a:ext cx="8187690" cy="2795349"/>
          </a:xfrm>
          <a:prstGeom prst="rect">
            <a:avLst/>
          </a:prstGeom>
        </p:spPr>
        <p:txBody>
          <a:bodyPr vert="horz" lIns="98237" tIns="49119" rIns="98237" bIns="4911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3106"/>
            <a:ext cx="4434999" cy="356196"/>
          </a:xfrm>
          <a:prstGeom prst="rect">
            <a:avLst/>
          </a:prstGeom>
        </p:spPr>
        <p:txBody>
          <a:bodyPr vert="horz" lIns="98237" tIns="49119" rIns="98237" bIns="49119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6743106"/>
            <a:ext cx="4434999" cy="356196"/>
          </a:xfrm>
          <a:prstGeom prst="rect">
            <a:avLst/>
          </a:prstGeom>
        </p:spPr>
        <p:txBody>
          <a:bodyPr vert="horz" lIns="98237" tIns="49119" rIns="98237" bIns="49119" rtlCol="0" anchor="b"/>
          <a:lstStyle>
            <a:lvl1pPr algn="r">
              <a:defRPr sz="1300"/>
            </a:lvl1pPr>
          </a:lstStyle>
          <a:p>
            <a:fld id="{CC94B5DE-7E50-41F6-AD76-0C11F090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609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491087" y="2677415"/>
            <a:ext cx="10363200" cy="901094"/>
          </a:xfrm>
        </p:spPr>
        <p:txBody>
          <a:bodyPr anchor="t" anchorCtr="0"/>
          <a:lstStyle/>
          <a:p>
            <a:r>
              <a:rPr lang="nb-NO" dirty="0" smtClean="0"/>
              <a:t>Klikk for å redigere tittelstil</a:t>
            </a:r>
            <a:endParaRPr lang="nb-NO" dirty="0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491087" y="3645154"/>
            <a:ext cx="103632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 dirty="0" smtClean="0"/>
              <a:t>Klikk for å redigere undertittelstil i malen</a:t>
            </a:r>
            <a:endParaRPr lang="nb-NO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6435296" y="6484289"/>
            <a:ext cx="5756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8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Electronics and Computer Engineering, 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159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92698" y="224119"/>
            <a:ext cx="10616597" cy="53650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300267" y="1090998"/>
            <a:ext cx="11309028" cy="5035167"/>
          </a:xfrm>
        </p:spPr>
        <p:txBody>
          <a:bodyPr/>
          <a:lstStyle>
            <a:lvl1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nb-NO" dirty="0" smtClean="0"/>
              <a:t>Klikk for å redigere tekststiler i malen</a:t>
            </a:r>
          </a:p>
          <a:p>
            <a:pPr lvl="1"/>
            <a:r>
              <a:rPr lang="nb-NO" dirty="0" smtClean="0"/>
              <a:t>Andre nivå</a:t>
            </a:r>
          </a:p>
          <a:p>
            <a:pPr lvl="2"/>
            <a:r>
              <a:rPr lang="nb-NO" dirty="0" smtClean="0"/>
              <a:t>Tredje nivå</a:t>
            </a:r>
          </a:p>
          <a:p>
            <a:pPr lvl="0"/>
            <a:r>
              <a:rPr lang="nb-NO" dirty="0" smtClean="0"/>
              <a:t>Fjerde nivå</a:t>
            </a:r>
          </a:p>
          <a:p>
            <a:pPr lvl="4"/>
            <a:r>
              <a:rPr lang="nb-NO" dirty="0" smtClean="0"/>
              <a:t>Femte nivå</a:t>
            </a:r>
          </a:p>
          <a:p>
            <a:pPr lvl="4"/>
            <a:endParaRPr lang="nb-NO" dirty="0"/>
          </a:p>
        </p:txBody>
      </p:sp>
      <p:sp>
        <p:nvSpPr>
          <p:cNvPr id="14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6435296" y="6496821"/>
            <a:ext cx="5756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8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Electronics and Computer Engineering, 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0198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6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460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83733" y="272044"/>
            <a:ext cx="10616597" cy="47202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400"/>
            </a:lvl1pPr>
            <a:lvl2pPr marL="742950" indent="-285750"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Courier New" panose="02070309020205020404" pitchFamily="49" charset="0"/>
              <a:buChar char="o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402730" cy="4525963"/>
          </a:xfrm>
        </p:spPr>
        <p:txBody>
          <a:bodyPr/>
          <a:lstStyle>
            <a:lvl1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400"/>
            </a:lvl1pPr>
            <a:lvl2pPr marL="742950" indent="-285750"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Courier New" panose="02070309020205020404" pitchFamily="49" charset="0"/>
              <a:buChar char="o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6" name="TextBox 5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7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14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19593" y="272044"/>
            <a:ext cx="10616597" cy="456452"/>
          </a:xfrm>
        </p:spPr>
        <p:txBody>
          <a:bodyPr/>
          <a:lstStyle>
            <a:lvl1pPr>
              <a:defRPr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4428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4428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7" name="TextBox 6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8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236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92698" y="289973"/>
            <a:ext cx="10616597" cy="46306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TextBox 2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4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2496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18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noFill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6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486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6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92240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3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TextBox 3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5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85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TextBox 3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 smtClean="0">
                <a:solidFill>
                  <a:schemeClr val="bg1"/>
                </a:solidFill>
              </a:rPr>
              <a:t>Dept. of</a:t>
            </a:r>
            <a:r>
              <a:rPr lang="en-US" sz="1800" b="1" baseline="0" dirty="0" smtClean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dirty="0" err="1" smtClean="0">
                <a:solidFill>
                  <a:schemeClr val="bg1"/>
                </a:solidFill>
              </a:rPr>
              <a:t>Engg</a:t>
            </a:r>
            <a:r>
              <a:rPr lang="en-US" sz="1800" b="1" baseline="0" dirty="0" smtClean="0">
                <a:solidFill>
                  <a:schemeClr val="bg1"/>
                </a:solidFill>
              </a:rPr>
              <a:t>., NCE, </a:t>
            </a:r>
            <a:r>
              <a:rPr lang="en-US" sz="1800" b="1" dirty="0" err="1" smtClean="0">
                <a:solidFill>
                  <a:schemeClr val="bg1"/>
                </a:solidFill>
              </a:rPr>
              <a:t>Tribhuvan</a:t>
            </a:r>
            <a:r>
              <a:rPr lang="en-US" sz="1800" b="1" dirty="0" smtClean="0">
                <a:solidFill>
                  <a:schemeClr val="bg1"/>
                </a:solidFill>
              </a:rPr>
              <a:t> University, Nepal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5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3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992698" y="272044"/>
            <a:ext cx="10616597" cy="4564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b-NO" dirty="0" smtClean="0"/>
              <a:t>Klikk for å redigere tittelstil</a:t>
            </a:r>
            <a:endParaRPr lang="nb-NO" dirty="0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65803" y="1090998"/>
            <a:ext cx="10643492" cy="5035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 smtClean="0"/>
              <a:t>Klikk for å redigere tekststiler i malen</a:t>
            </a:r>
          </a:p>
          <a:p>
            <a:pPr lvl="1"/>
            <a:r>
              <a:rPr lang="nb-NO" dirty="0" smtClean="0"/>
              <a:t>Andre nivå</a:t>
            </a:r>
          </a:p>
          <a:p>
            <a:pPr lvl="2"/>
            <a:r>
              <a:rPr lang="nb-NO" dirty="0" smtClean="0"/>
              <a:t>Tredje nivå</a:t>
            </a:r>
          </a:p>
          <a:p>
            <a:pPr lvl="3"/>
            <a:r>
              <a:rPr lang="nb-NO" dirty="0" smtClean="0"/>
              <a:t>Fjerde nivå</a:t>
            </a:r>
          </a:p>
          <a:p>
            <a:pPr lvl="4"/>
            <a:r>
              <a:rPr lang="nb-NO" dirty="0" smtClean="0"/>
              <a:t>Femte nivå</a:t>
            </a:r>
            <a:endParaRPr lang="nb-NO" dirty="0"/>
          </a:p>
        </p:txBody>
      </p:sp>
      <p:pic>
        <p:nvPicPr>
          <p:cNvPr id="5" name="Bilde 4" descr="hor_blaa_strip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9700"/>
            <a:ext cx="12192000" cy="35966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US" sz="180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3" y="16897"/>
            <a:ext cx="966746" cy="96674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904384" y="6500192"/>
            <a:ext cx="5303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6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Electronics and Computer Engineering, 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1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ts val="1200"/>
        </a:spcBef>
        <a:spcAft>
          <a:spcPts val="600"/>
        </a:spcAft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ts val="60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ts val="600"/>
        </a:spcBef>
        <a:spcAft>
          <a:spcPts val="600"/>
        </a:spcAft>
        <a:buFont typeface="Arial"/>
        <a:buChar char="–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ts val="600"/>
        </a:spcBef>
        <a:spcAft>
          <a:spcPts val="600"/>
        </a:spcAft>
        <a:buFont typeface="Arial"/>
        <a:buChar char="»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780" y="449669"/>
            <a:ext cx="10363200" cy="1247155"/>
          </a:xfrm>
        </p:spPr>
        <p:txBody>
          <a:bodyPr/>
          <a:lstStyle/>
          <a:p>
            <a:pPr algn="ctr"/>
            <a:r>
              <a:rPr sz="3600" b="1" dirty="0">
                <a:latin typeface="Times New Roman"/>
              </a:rPr>
              <a:t>Customer Segmentation and Intelligent</a:t>
            </a:r>
          </a:p>
          <a:p>
            <a:pPr algn="ctr"/>
            <a:r>
              <a:rPr sz="3600" b="1" dirty="0">
                <a:latin typeface="Times New Roman"/>
              </a:rPr>
              <a:t>Mobile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780" y="1854430"/>
            <a:ext cx="10363200" cy="4370650"/>
          </a:xfrm>
        </p:spPr>
        <p:txBody>
          <a:bodyPr wrap="square">
            <a:noAutofit/>
          </a:bodyPr>
          <a:lstStyle/>
          <a:p>
            <a:pPr algn="ctr"/>
            <a:r>
              <a:rPr sz="2600" b="1" i="1" dirty="0" smtClean="0">
                <a:solidFill>
                  <a:schemeClr val="tx1"/>
                </a:solidFill>
                <a:latin typeface="Times New Roman"/>
              </a:rPr>
              <a:t>Minor Project Mid-Term Presentation</a:t>
            </a:r>
            <a:endParaRPr b="1" i="1" dirty="0">
              <a:solidFill>
                <a:schemeClr val="tx1"/>
              </a:solidFill>
              <a:latin typeface="Times New Roman"/>
            </a:endParaRPr>
          </a:p>
          <a:p>
            <a:pPr algn="ctr"/>
            <a:r>
              <a:rPr b="1" i="0" dirty="0">
                <a:solidFill>
                  <a:schemeClr val="tx1"/>
                </a:solidFill>
                <a:latin typeface="Times New Roman"/>
              </a:rPr>
              <a:t>Submitted By: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2000" i="0" kern="800" dirty="0" err="1">
                <a:solidFill>
                  <a:schemeClr val="tx1"/>
                </a:solidFill>
                <a:latin typeface="Times New Roman"/>
              </a:rPr>
              <a:t>Aayush</a:t>
            </a:r>
            <a:r>
              <a:rPr sz="2000" i="0" kern="800" dirty="0">
                <a:solidFill>
                  <a:schemeClr val="tx1"/>
                </a:solidFill>
                <a:latin typeface="Times New Roman"/>
              </a:rPr>
              <a:t> </a:t>
            </a:r>
            <a:r>
              <a:rPr sz="2000" i="0" kern="800" dirty="0" err="1">
                <a:solidFill>
                  <a:schemeClr val="tx1"/>
                </a:solidFill>
                <a:latin typeface="Times New Roman"/>
              </a:rPr>
              <a:t>Chhuka</a:t>
            </a:r>
            <a:r>
              <a:rPr sz="2000" i="0" kern="800" dirty="0">
                <a:solidFill>
                  <a:schemeClr val="tx1"/>
                </a:solidFill>
                <a:latin typeface="Times New Roman"/>
              </a:rPr>
              <a:t> [NCE080BCT002]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2000" i="0" kern="800" dirty="0" err="1">
                <a:solidFill>
                  <a:schemeClr val="tx1"/>
                </a:solidFill>
                <a:latin typeface="Times New Roman"/>
              </a:rPr>
              <a:t>Hom</a:t>
            </a:r>
            <a:r>
              <a:rPr sz="2000" i="0" kern="800" dirty="0">
                <a:solidFill>
                  <a:schemeClr val="tx1"/>
                </a:solidFill>
                <a:latin typeface="Times New Roman"/>
              </a:rPr>
              <a:t> Raj Bhandari [NCE080BCT016]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2000" i="0" kern="800" dirty="0" err="1">
                <a:solidFill>
                  <a:schemeClr val="tx1"/>
                </a:solidFill>
                <a:latin typeface="Times New Roman"/>
              </a:rPr>
              <a:t>Sudip</a:t>
            </a:r>
            <a:r>
              <a:rPr sz="2000" i="0" kern="800" dirty="0">
                <a:solidFill>
                  <a:schemeClr val="tx1"/>
                </a:solidFill>
                <a:latin typeface="Times New Roman"/>
              </a:rPr>
              <a:t> Kumar </a:t>
            </a:r>
            <a:r>
              <a:rPr sz="2000" i="0" kern="800" dirty="0" err="1">
                <a:solidFill>
                  <a:schemeClr val="tx1"/>
                </a:solidFill>
                <a:latin typeface="Times New Roman"/>
              </a:rPr>
              <a:t>Tamang</a:t>
            </a:r>
            <a:r>
              <a:rPr sz="2000" i="0" kern="800" dirty="0">
                <a:solidFill>
                  <a:schemeClr val="tx1"/>
                </a:solidFill>
                <a:latin typeface="Times New Roman"/>
              </a:rPr>
              <a:t> [NCE080BCT042]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2000" i="0" kern="800" dirty="0">
                <a:solidFill>
                  <a:schemeClr val="tx1"/>
                </a:solidFill>
                <a:latin typeface="Times New Roman"/>
              </a:rPr>
              <a:t>Suresh </a:t>
            </a:r>
            <a:r>
              <a:rPr sz="2000" i="0" kern="800" dirty="0" err="1">
                <a:solidFill>
                  <a:schemeClr val="tx1"/>
                </a:solidFill>
                <a:latin typeface="Times New Roman"/>
              </a:rPr>
              <a:t>Khadka</a:t>
            </a:r>
            <a:r>
              <a:rPr sz="2000" i="0" kern="800" dirty="0">
                <a:solidFill>
                  <a:schemeClr val="tx1"/>
                </a:solidFill>
                <a:latin typeface="Times New Roman"/>
              </a:rPr>
              <a:t> [NCE080BCT046]</a:t>
            </a:r>
          </a:p>
          <a:p>
            <a:pPr algn="ctr"/>
            <a:endParaRPr sz="2000" b="1" i="0" dirty="0">
              <a:solidFill>
                <a:schemeClr val="tx1"/>
              </a:solidFill>
              <a:latin typeface="Times New Roman"/>
            </a:endParaRPr>
          </a:p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Times New Roman"/>
              </a:rPr>
              <a:t>Presented</a:t>
            </a:r>
            <a:r>
              <a:rPr sz="2000" b="1" i="0" dirty="0" smtClean="0">
                <a:solidFill>
                  <a:schemeClr val="tx1"/>
                </a:solidFill>
                <a:latin typeface="Times New Roman"/>
              </a:rPr>
              <a:t> </a:t>
            </a:r>
            <a:r>
              <a:rPr sz="2000" b="1" i="0" dirty="0">
                <a:solidFill>
                  <a:schemeClr val="tx1"/>
                </a:solidFill>
                <a:latin typeface="Times New Roman"/>
              </a:rPr>
              <a:t>To</a:t>
            </a:r>
            <a:r>
              <a:rPr sz="2000" i="0" dirty="0">
                <a:solidFill>
                  <a:schemeClr val="tx1"/>
                </a:solidFill>
                <a:latin typeface="Times New Roman"/>
              </a:rPr>
              <a:t>: Department of Electronics &amp; Computer Engineering, NCE, </a:t>
            </a:r>
            <a:r>
              <a:rPr sz="2000" i="0" dirty="0" err="1">
                <a:solidFill>
                  <a:schemeClr val="tx1"/>
                </a:solidFill>
                <a:latin typeface="Times New Roman"/>
              </a:rPr>
              <a:t>Lalitpur</a:t>
            </a:r>
            <a:endParaRPr sz="2000" i="0" dirty="0">
              <a:solidFill>
                <a:schemeClr val="tx1"/>
              </a:solidFill>
              <a:latin typeface="Times New Roman"/>
            </a:endParaRPr>
          </a:p>
          <a:p>
            <a:pPr algn="ctr"/>
            <a:r>
              <a:rPr sz="2000" b="1" i="0" dirty="0">
                <a:solidFill>
                  <a:schemeClr val="tx1"/>
                </a:solidFill>
                <a:latin typeface="Times New Roman"/>
              </a:rPr>
              <a:t>Date: July,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</a:rPr>
              <a:t>1. </a:t>
            </a:r>
            <a:r>
              <a:rPr dirty="0" smtClean="0">
                <a:latin typeface="Times New Roman"/>
              </a:rPr>
              <a:t>Introduction </a:t>
            </a:r>
            <a:endParaRPr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697" y="1090998"/>
            <a:ext cx="10616597" cy="5035167"/>
          </a:xfrm>
        </p:spPr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800" b="1" dirty="0"/>
              <a:t>Background</a:t>
            </a:r>
            <a:r>
              <a:rPr sz="2800" b="0" dirty="0"/>
              <a:t>:</a:t>
            </a:r>
          </a:p>
          <a:p>
            <a:pPr lvl="1">
              <a:buFont typeface="Arial"/>
              <a:buChar char="-"/>
            </a:pPr>
            <a:r>
              <a:rPr sz="2400" dirty="0"/>
              <a:t>Booming smartphone market, overwhelming customer choices.</a:t>
            </a:r>
          </a:p>
          <a:p>
            <a:pPr lvl="1">
              <a:buFont typeface="Arial"/>
              <a:buChar char="-"/>
            </a:pPr>
            <a:r>
              <a:rPr sz="2400" dirty="0"/>
              <a:t>Dozens of brands launch new models constantly; customers struggle to compare specs and budget, while retailers struggle to match the right phone to the right buyer.</a:t>
            </a:r>
          </a:p>
          <a:p>
            <a:pPr>
              <a:buFont typeface="Arial"/>
              <a:buChar char="•"/>
            </a:pPr>
            <a:r>
              <a:rPr sz="2800" b="1" dirty="0"/>
              <a:t>Objective</a:t>
            </a:r>
            <a:r>
              <a:rPr sz="2800" b="0" dirty="0"/>
              <a:t>:</a:t>
            </a:r>
          </a:p>
          <a:p>
            <a:pPr lvl="1">
              <a:buFont typeface="Arial"/>
              <a:buChar char="-"/>
            </a:pPr>
            <a:r>
              <a:rPr sz="2400" dirty="0"/>
              <a:t>Segment customers, recommend phones intelligently using ML.</a:t>
            </a:r>
          </a:p>
          <a:p>
            <a:pPr lvl="1">
              <a:buFont typeface="Arial"/>
              <a:buChar char="-"/>
            </a:pPr>
            <a:r>
              <a:rPr sz="2400" dirty="0"/>
              <a:t>Combine phone specifications with customer </a:t>
            </a:r>
            <a:r>
              <a:rPr sz="2400" dirty="0" smtClean="0"/>
              <a:t>behavior </a:t>
            </a:r>
            <a:r>
              <a:rPr sz="2400" dirty="0"/>
              <a:t>to generate personalized, explainable phone recommendations for each buyer segment.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</a:rPr>
              <a:t>1</a:t>
            </a:r>
            <a:r>
              <a:rPr lang="en-US" dirty="0" smtClean="0">
                <a:latin typeface="Times New Roman"/>
              </a:rPr>
              <a:t>. </a:t>
            </a:r>
            <a:r>
              <a:rPr dirty="0" smtClean="0">
                <a:latin typeface="Times New Roman"/>
              </a:rPr>
              <a:t>Introduction </a:t>
            </a:r>
            <a:endParaRPr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697" y="1090998"/>
            <a:ext cx="10616597" cy="5035167"/>
          </a:xfrm>
        </p:spPr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800" b="1" dirty="0"/>
              <a:t>Methods / Performance:</a:t>
            </a:r>
          </a:p>
          <a:p>
            <a:pPr lvl="1">
              <a:buFont typeface="Arial"/>
              <a:buChar char="-"/>
            </a:pPr>
            <a:r>
              <a:rPr sz="2400" dirty="0" err="1"/>
              <a:t>XGBoost</a:t>
            </a:r>
            <a:r>
              <a:rPr sz="2400" dirty="0"/>
              <a:t> regression, K-Means clustering, SHAP.</a:t>
            </a:r>
          </a:p>
          <a:p>
            <a:pPr lvl="1">
              <a:buFont typeface="Arial"/>
              <a:buChar char="-"/>
            </a:pPr>
            <a:r>
              <a:rPr sz="2400" dirty="0" err="1"/>
              <a:t>XGBoost</a:t>
            </a:r>
            <a:r>
              <a:rPr sz="2400" dirty="0"/>
              <a:t> predicts phone performance scores; K-Means groups customers; SHAP explains results. Achieved a cross-validated R² of 0.85 and MAE of 0.179.</a:t>
            </a:r>
          </a:p>
          <a:p>
            <a:pPr>
              <a:buFont typeface="Arial"/>
              <a:buChar char="•"/>
            </a:pPr>
            <a:r>
              <a:rPr sz="2800" b="1" dirty="0"/>
              <a:t>Scope</a:t>
            </a:r>
            <a:r>
              <a:rPr sz="2800" b="0" dirty="0"/>
              <a:t>:</a:t>
            </a:r>
          </a:p>
          <a:p>
            <a:pPr lvl="1">
              <a:buFont typeface="Arial"/>
              <a:buChar char="-"/>
            </a:pPr>
            <a:r>
              <a:rPr sz="2400" dirty="0" err="1"/>
              <a:t>GSMArena</a:t>
            </a:r>
            <a:r>
              <a:rPr sz="2400" dirty="0"/>
              <a:t> specs, </a:t>
            </a:r>
            <a:r>
              <a:rPr sz="2400" dirty="0" err="1"/>
              <a:t>AnTuTu</a:t>
            </a:r>
            <a:r>
              <a:rPr sz="2400" dirty="0"/>
              <a:t> scores, full web app.</a:t>
            </a:r>
          </a:p>
          <a:p>
            <a:pPr lvl="1">
              <a:buFont typeface="Arial"/>
              <a:buChar char="-"/>
            </a:pPr>
            <a:r>
              <a:rPr sz="2400" dirty="0"/>
              <a:t>Covers data collection, preprocessing, ML modelling, and a role-based React + Node web application for customers, sales staff, and admins.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</a:rPr>
              <a:t>2. </a:t>
            </a:r>
            <a:r>
              <a:rPr dirty="0" smtClean="0">
                <a:latin typeface="Times New Roman"/>
              </a:rPr>
              <a:t>Problem </a:t>
            </a:r>
            <a:r>
              <a:rPr dirty="0">
                <a:latin typeface="Times New Roman"/>
              </a:rP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698" y="1090998"/>
            <a:ext cx="10616598" cy="5035167"/>
          </a:xfrm>
        </p:spPr>
        <p:txBody>
          <a:bodyPr wrap="square">
            <a:normAutofit/>
          </a:bodyPr>
          <a:lstStyle/>
          <a:p>
            <a:pPr>
              <a:buFont typeface="Arial"/>
              <a:buAutoNum type="arabicPeriod"/>
            </a:pPr>
            <a:r>
              <a:rPr b="0" dirty="0"/>
              <a:t>Wide range of prices, brands, and specifications makes phone selection difficult for customers.</a:t>
            </a:r>
          </a:p>
          <a:p>
            <a:pPr>
              <a:buFont typeface="Arial"/>
              <a:buAutoNum type="arabicPeriod"/>
            </a:pPr>
            <a:r>
              <a:rPr b="0" dirty="0"/>
              <a:t>Basic demographic information alone cannot capture what customers actually value in a phone.</a:t>
            </a:r>
          </a:p>
          <a:p>
            <a:pPr>
              <a:buFont typeface="Arial"/>
              <a:buAutoNum type="arabicPeriod"/>
            </a:pPr>
            <a:r>
              <a:rPr b="0" dirty="0"/>
              <a:t>Retailers struggle to group customers meaningfully to guide recommendations and marketing.</a:t>
            </a:r>
          </a:p>
          <a:p>
            <a:pPr>
              <a:buFont typeface="Arial"/>
              <a:buAutoNum type="arabicPeriod"/>
            </a:pPr>
            <a:r>
              <a:rPr b="0" dirty="0"/>
              <a:t>No existing system connects customer segmentation directly to smartphone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</a:rPr>
              <a:t>3. </a:t>
            </a:r>
            <a:r>
              <a:rPr dirty="0" smtClean="0">
                <a:latin typeface="Times New Roman"/>
              </a:rPr>
              <a:t>Aim </a:t>
            </a:r>
            <a:r>
              <a:rPr dirty="0">
                <a:latin typeface="Times New Roman"/>
              </a:rPr>
              <a:t>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697" y="1090998"/>
            <a:ext cx="10616597" cy="5035167"/>
          </a:xfrm>
        </p:spPr>
        <p:txBody>
          <a:bodyPr wrap="square">
            <a:normAutofit/>
          </a:bodyPr>
          <a:lstStyle/>
          <a:p>
            <a:pPr>
              <a:buFont typeface="Arial"/>
              <a:buChar char="•"/>
            </a:pPr>
            <a:r>
              <a:rPr sz="2800" b="1" dirty="0"/>
              <a:t>Aim</a:t>
            </a:r>
            <a:r>
              <a:rPr b="1" dirty="0"/>
              <a:t>: </a:t>
            </a:r>
            <a:r>
              <a:rPr dirty="0"/>
              <a:t>To develop an intelligent mobile recommendation system using machine learning based customer segmentation</a:t>
            </a:r>
            <a:r>
              <a:rPr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	Following are the objectives:</a:t>
            </a:r>
            <a:endParaRPr dirty="0"/>
          </a:p>
          <a:p>
            <a:pPr>
              <a:buFont typeface="Arial"/>
              <a:buAutoNum type="arabicPeriod"/>
            </a:pPr>
            <a:r>
              <a:rPr dirty="0"/>
              <a:t>To collect and preprocess mobile phone data from </a:t>
            </a:r>
            <a:r>
              <a:rPr dirty="0" err="1"/>
              <a:t>GSMArena</a:t>
            </a:r>
            <a:r>
              <a:rPr dirty="0"/>
              <a:t> and </a:t>
            </a:r>
            <a:r>
              <a:rPr dirty="0" err="1"/>
              <a:t>AnTuTu</a:t>
            </a:r>
            <a:r>
              <a:rPr dirty="0"/>
              <a:t> benchmark through web scraping.</a:t>
            </a:r>
          </a:p>
          <a:p>
            <a:pPr>
              <a:buFont typeface="Arial"/>
              <a:buAutoNum type="arabicPeriod"/>
            </a:pPr>
            <a:r>
              <a:rPr dirty="0"/>
              <a:t>To develop a secure web application with user authentication and database management.</a:t>
            </a:r>
          </a:p>
          <a:p>
            <a:pPr>
              <a:buFont typeface="Arial"/>
              <a:buAutoNum type="arabicPeriod"/>
            </a:pPr>
            <a:r>
              <a:rPr dirty="0"/>
              <a:t>To build a machine learning model for customer segmentation.</a:t>
            </a:r>
          </a:p>
          <a:p>
            <a:pPr>
              <a:buFont typeface="Arial"/>
              <a:buAutoNum type="arabicPeriod"/>
            </a:pPr>
            <a:r>
              <a:rPr dirty="0"/>
              <a:t>To evaluate the performance and accuracy of the proposed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dirty="0" smtClean="0"/>
              <a:t>Methodology</a:t>
            </a:r>
            <a:r>
              <a:rPr dirty="0"/>
              <a:t>: System Block Diagram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97" y="1090998"/>
            <a:ext cx="10616598" cy="41207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2698" y="5211765"/>
            <a:ext cx="10616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raw data is cleaned, engineered into features, split, and used to train an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evaluated and paired with SHAP for explainable recommendations</a:t>
            </a:r>
            <a:r>
              <a:rPr sz="2400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dirty="0" smtClean="0"/>
              <a:t>Methodology</a:t>
            </a:r>
            <a:r>
              <a:rPr dirty="0"/>
              <a:t>: System </a:t>
            </a:r>
            <a:r>
              <a:rPr lang="en-US" dirty="0" smtClean="0"/>
              <a:t>Flowchart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91852" y="1156546"/>
            <a:ext cx="29317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user lanes: </a:t>
            </a:r>
            <a:endParaRPr lang="en-US" sz="2400" dirty="0" smtClean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sz="2400" b="1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users and </a:t>
            </a:r>
            <a:r>
              <a:rPr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monitors activity</a:t>
            </a:r>
            <a:r>
              <a:rPr 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AutoNum type="arabicPeriod"/>
            </a:pPr>
            <a:r>
              <a:rPr sz="2400" b="1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Salesman</a:t>
            </a:r>
            <a:r>
              <a:rPr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 ML-suggested phones to </a:t>
            </a:r>
            <a:r>
              <a:rPr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</a:t>
            </a:r>
            <a:endParaRPr lang="en-US" sz="2400" dirty="0" smtClean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sz="2400" b="1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registers, sets preferences, and views </a:t>
            </a:r>
            <a:r>
              <a:rPr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039" y="760621"/>
            <a:ext cx="8173039" cy="54987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2698" y="224119"/>
            <a:ext cx="10616597" cy="5365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4. Methodology: System Architecture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0" t="11663" r="21931" b="18858"/>
          <a:stretch/>
        </p:blipFill>
        <p:spPr>
          <a:xfrm>
            <a:off x="4494384" y="1093509"/>
            <a:ext cx="7114911" cy="47416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2698" y="1310878"/>
            <a:ext cx="385556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React Web Application</a:t>
            </a:r>
          </a:p>
          <a:p>
            <a:pPr marL="342900" indent="-342900"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Node.js + Express</a:t>
            </a:r>
          </a:p>
          <a:p>
            <a:pPr marL="342900" indent="-342900"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(Python)</a:t>
            </a:r>
          </a:p>
          <a:p>
            <a:pPr marL="342900" indent="-342900"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PostgreSQL</a:t>
            </a:r>
          </a:p>
          <a:p>
            <a:pPr marL="342900" indent="-342900"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K-Means</a:t>
            </a:r>
          </a:p>
          <a:p>
            <a:pPr marL="342900" indent="-342900"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 Personalized Phone Recommendation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529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dirty="0" smtClean="0"/>
              <a:t>Methodology</a:t>
            </a:r>
            <a:r>
              <a:rPr dirty="0"/>
              <a:t>: Data Collection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698" y="874362"/>
            <a:ext cx="478314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/>
              <a:buChar char="•"/>
            </a:pPr>
            <a:r>
              <a:rPr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GSMArena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8,500+ phones scraped in batches, ~150 engineered features per device.</a:t>
            </a:r>
          </a:p>
          <a:p>
            <a:pPr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AnTuTu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Scores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merged on cleaned model ID; only measured scores used to train the model.</a:t>
            </a:r>
          </a:p>
          <a:p>
            <a:pPr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Transactions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Dummy dataset to be created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Dataset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feeds customer segmentation and the personalized recommendation engine.</a:t>
            </a:r>
          </a:p>
          <a:p>
            <a:pPr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996" y="1283823"/>
            <a:ext cx="5374776" cy="45248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</a:rPr>
              <a:t>5. </a:t>
            </a:r>
            <a:r>
              <a:rPr dirty="0" smtClean="0">
                <a:latin typeface="Times New Roman"/>
              </a:rPr>
              <a:t>Task </a:t>
            </a:r>
            <a:r>
              <a:rPr dirty="0">
                <a:latin typeface="Times New Roman"/>
              </a:rPr>
              <a:t>Accomplished: Data Collection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803" y="890863"/>
            <a:ext cx="6199954" cy="3791137"/>
          </a:xfrm>
        </p:spPr>
        <p:txBody>
          <a:bodyPr wrap="square">
            <a:noAutofit/>
          </a:bodyPr>
          <a:lstStyle/>
          <a:p>
            <a:r>
              <a:rPr sz="2800" b="1" dirty="0" smtClean="0"/>
              <a:t>Key </a:t>
            </a:r>
            <a:r>
              <a:rPr sz="2800" b="1" dirty="0"/>
              <a:t>steps completed</a:t>
            </a:r>
            <a:r>
              <a:rPr sz="2800" b="0" dirty="0"/>
              <a:t>:</a:t>
            </a:r>
          </a:p>
          <a:p>
            <a:pPr lvl="1">
              <a:buFont typeface="Arial"/>
              <a:buChar char="-"/>
            </a:pPr>
            <a:r>
              <a:rPr sz="2400" dirty="0"/>
              <a:t>Merged batches and removed duplicates</a:t>
            </a:r>
            <a:r>
              <a:rPr sz="2400" dirty="0" smtClean="0"/>
              <a:t>;</a:t>
            </a:r>
            <a:endParaRPr lang="en-US" sz="2400" dirty="0" smtClean="0"/>
          </a:p>
          <a:p>
            <a:pPr lvl="1">
              <a:buFont typeface="Arial"/>
              <a:buChar char="-"/>
            </a:pPr>
            <a:r>
              <a:rPr sz="2400" dirty="0" smtClean="0"/>
              <a:t> </a:t>
            </a:r>
            <a:r>
              <a:rPr sz="2400" dirty="0"/>
              <a:t>parsed CPU/chipset/GPU text into structured features; </a:t>
            </a:r>
            <a:endParaRPr lang="en-US" sz="2400" dirty="0" smtClean="0"/>
          </a:p>
          <a:p>
            <a:pPr lvl="1">
              <a:buFont typeface="Arial"/>
              <a:buChar char="-"/>
            </a:pPr>
            <a:r>
              <a:rPr sz="2400" dirty="0" smtClean="0"/>
              <a:t>applied </a:t>
            </a:r>
            <a:r>
              <a:rPr sz="2400" dirty="0"/>
              <a:t>three-level median imputation with missing-value flags; </a:t>
            </a:r>
            <a:endParaRPr lang="en-US" sz="2400" dirty="0" smtClean="0"/>
          </a:p>
          <a:p>
            <a:pPr lvl="1">
              <a:buFont typeface="Arial"/>
              <a:buChar char="-"/>
            </a:pPr>
            <a:r>
              <a:rPr sz="2400" dirty="0" smtClean="0"/>
              <a:t>aggregated </a:t>
            </a:r>
            <a:r>
              <a:rPr sz="2400" dirty="0"/>
              <a:t>transactions to customer-level features.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493" b="1781"/>
          <a:stretch/>
        </p:blipFill>
        <p:spPr>
          <a:xfrm>
            <a:off x="7130014" y="763569"/>
            <a:ext cx="3314987" cy="25358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239" t="1592" r="2598"/>
          <a:stretch/>
        </p:blipFill>
        <p:spPr>
          <a:xfrm>
            <a:off x="7250938" y="3576100"/>
            <a:ext cx="3073138" cy="2530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5674" y="3249281"/>
            <a:ext cx="3229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Dataset before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89932" y="6090923"/>
            <a:ext cx="38394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Dataset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dirty="0" smtClean="0"/>
              <a:t>Task </a:t>
            </a:r>
            <a:r>
              <a:rPr dirty="0"/>
              <a:t>Accomplished: Machine Learning Results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684"/>
          <a:stretch/>
        </p:blipFill>
        <p:spPr>
          <a:xfrm>
            <a:off x="1586587" y="1036949"/>
            <a:ext cx="2787450" cy="45483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555" y="1539098"/>
            <a:ext cx="5429040" cy="26558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7733" y="5676917"/>
            <a:ext cx="30413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Table: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9564" y="4194927"/>
            <a:ext cx="34869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2698" y="224119"/>
            <a:ext cx="10616597" cy="5365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 smtClean="0">
                <a:latin typeface="Times New Roman"/>
              </a:rPr>
              <a:t>5. Task Accomplished: Web Application Development</a:t>
            </a:r>
            <a:endParaRPr lang="en-US" dirty="0"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2698" y="885551"/>
            <a:ext cx="462567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Pages:</a:t>
            </a:r>
          </a:p>
          <a:p>
            <a:pPr marL="342900" indent="-342900"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(Role Based)</a:t>
            </a:r>
          </a:p>
          <a:p>
            <a:pPr marL="342900" indent="-342900">
              <a:buFontTx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with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Verification</a:t>
            </a:r>
          </a:p>
          <a:p>
            <a:pPr marL="342900" indent="-342900"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</a:t>
            </a:r>
          </a:p>
          <a:p>
            <a:pPr marL="342900" indent="-342900"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Express,js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PostgresSQL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PrismaORM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Registration, Login, OTP verification, Session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1" t="1170" r="12652"/>
          <a:stretch/>
        </p:blipFill>
        <p:spPr>
          <a:xfrm>
            <a:off x="5618375" y="1197204"/>
            <a:ext cx="5990920" cy="427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39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dirty="0" smtClean="0"/>
              <a:t>Task </a:t>
            </a:r>
            <a:r>
              <a:rPr lang="en-US" dirty="0" smtClean="0"/>
              <a:t>Remaining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63838" y="1167572"/>
            <a:ext cx="7712517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tasks before final submission</a:t>
            </a:r>
            <a:r>
              <a:rPr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realistic dummy customer dataset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K-Means clustering and select the best number of clusters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dashboards for all three user roles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and deploy the complete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7248</TotalTime>
  <Words>613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Times New Roman</vt:lpstr>
      <vt:lpstr>Wingdings</vt:lpstr>
      <vt:lpstr>Office-tema</vt:lpstr>
      <vt:lpstr>Customer Segmentation and Intelligent Mobile Recommendation System</vt:lpstr>
      <vt:lpstr>1. Introduction </vt:lpstr>
      <vt:lpstr>1. Introduction </vt:lpstr>
      <vt:lpstr>2. Problem Statement</vt:lpstr>
      <vt:lpstr>3. Aim and Objectives</vt:lpstr>
      <vt:lpstr>4. Methodology: System Block Diagram</vt:lpstr>
      <vt:lpstr>4. Methodology: System Flowchart</vt:lpstr>
      <vt:lpstr>PowerPoint Presentation</vt:lpstr>
      <vt:lpstr>4. Methodology: Data Collection &amp; Integration</vt:lpstr>
      <vt:lpstr>5. Task Accomplished: Data Collection &amp; Preparation</vt:lpstr>
      <vt:lpstr>5. Task Accomplished: Machine Learning Results</vt:lpstr>
      <vt:lpstr>PowerPoint Presentation</vt:lpstr>
      <vt:lpstr>6. Task Remaining</vt:lpstr>
    </vt:vector>
  </TitlesOfParts>
  <Company>NTNU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Kolbjørn Skarpnes</dc:creator>
  <cp:lastModifiedBy>Sushil</cp:lastModifiedBy>
  <cp:revision>678</cp:revision>
  <cp:lastPrinted>2021-08-01T04:31:40Z</cp:lastPrinted>
  <dcterms:created xsi:type="dcterms:W3CDTF">2013-06-10T16:56:09Z</dcterms:created>
  <dcterms:modified xsi:type="dcterms:W3CDTF">2026-07-11T04:49:28Z</dcterms:modified>
</cp:coreProperties>
</file>